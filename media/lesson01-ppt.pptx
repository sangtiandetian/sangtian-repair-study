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4A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788920"/>
            <a:ext cx="1097280" cy="76200"/>
          </a:xfrm>
          <a:prstGeom prst="rect">
            <a:avLst/>
          </a:prstGeom>
          <a:solidFill>
            <a:srgbClr val="B87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108960"/>
            <a:ext cx="105156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微软雅黑"/>
                <a:rFonts ea="微软雅黑" latin="微软雅黑"/>
              </a:rPr>
              <a:t>第 1 关 · 万用表上手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4805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600"/>
              </a:spcAft>
            </a:pPr>
            <a:r>
              <a:rPr sz="2200" b="0">
                <a:solidFill>
                  <a:srgbClr val="E8DDC8"/>
                </a:solidFill>
                <a:latin typeface="微软雅黑"/>
                <a:rFonts ea="微软雅黑" latin="微软雅黑"/>
              </a:rPr>
              <a:t>测出主板纽扣电池电压 —— 目标 3.0～3.3 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8521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600"/>
              </a:spcAft>
            </a:pPr>
            <a:r>
              <a:rPr sz="1600" b="0">
                <a:solidFill>
                  <a:srgbClr val="B9C4B8"/>
                </a:solidFill>
                <a:latin typeface="微软雅黑"/>
                <a:rFonts ea="微软雅黑" latin="微软雅黑"/>
              </a:rPr>
              <a:t>桑田学维修 · 第 1 关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7000"/>
          </a:xfrm>
          <a:prstGeom prst="rect">
            <a:avLst/>
          </a:prstGeom>
          <a:solidFill>
            <a:srgbClr val="B87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600"/>
              </a:spcAft>
            </a:pPr>
            <a:r>
              <a:rPr sz="3200" b="1">
                <a:solidFill>
                  <a:srgbClr val="144A4B"/>
                </a:solidFill>
                <a:latin typeface="微软雅黑"/>
                <a:rFonts ea="微软雅黑" latin="微软雅黑"/>
              </a:rPr>
              <a:t>本关目标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100" b="0">
                <a:solidFill>
                  <a:srgbClr val="2B2B2B"/>
                </a:solidFill>
                <a:latin typeface="微软雅黑"/>
                <a:rFonts ea="微软雅黑" latin="微软雅黑"/>
              </a:rPr>
              <a:t>✔  会插表笔：黑表笔 COM 孔，红表笔 VΩ 孔</a:t>
            </a:r>
          </a:p>
          <a:p>
            <a:pPr algn="l">
              <a:spcAft>
                <a:spcPts val="1200"/>
              </a:spcAft>
            </a:pPr>
            <a:r>
              <a:rPr sz="2100" b="0">
                <a:solidFill>
                  <a:srgbClr val="2B2B2B"/>
                </a:solidFill>
                <a:latin typeface="微软雅黑"/>
                <a:rFonts ea="微软雅黑" latin="微软雅黑"/>
              </a:rPr>
              <a:t>✔  会选量程：直流电压 20V 档</a:t>
            </a:r>
          </a:p>
          <a:p>
            <a:pPr algn="l">
              <a:spcAft>
                <a:spcPts val="1200"/>
              </a:spcAft>
            </a:pPr>
            <a:r>
              <a:rPr sz="2100" b="0">
                <a:solidFill>
                  <a:srgbClr val="2B2B2B"/>
                </a:solidFill>
                <a:latin typeface="微软雅黑"/>
                <a:rFonts ea="微软雅黑" latin="微软雅黑"/>
              </a:rPr>
              <a:t>✔  会找参考地：主板后置接口金属外壳</a:t>
            </a:r>
          </a:p>
          <a:p>
            <a:pPr algn="l">
              <a:spcAft>
                <a:spcPts val="1200"/>
              </a:spcAft>
            </a:pPr>
            <a:r>
              <a:rPr sz="2100" b="0">
                <a:solidFill>
                  <a:srgbClr val="2B2B2B"/>
                </a:solidFill>
                <a:latin typeface="微软雅黑"/>
                <a:rFonts ea="微软雅黑" latin="微软雅黑"/>
              </a:rPr>
              <a:t>✔  会读稳定数值：等读数稳定后再报数</a:t>
            </a:r>
          </a:p>
          <a:p>
            <a:pPr algn="l">
              <a:spcAft>
                <a:spcPts val="1200"/>
              </a:spcAft>
            </a:pPr>
            <a:r>
              <a:rPr sz="2100" b="0">
                <a:solidFill>
                  <a:srgbClr val="2B2B2B"/>
                </a:solidFill>
                <a:latin typeface="微软雅黑"/>
                <a:rFonts ea="微软雅黑" latin="微软雅黑"/>
              </a:rPr>
              <a:t>🎯  验收目标：纽扣电池电压 3.0～3.3 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064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5A5A"/>
                </a:solidFill>
                <a:latin typeface="微软雅黑"/>
                <a:rFonts ea="微软雅黑" latin="微软雅黑"/>
              </a:rPr>
              <a:t>本关只做测量，不拆、不焊、不通电。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7000"/>
          </a:xfrm>
          <a:prstGeom prst="rect">
            <a:avLst/>
          </a:prstGeom>
          <a:solidFill>
            <a:srgbClr val="B87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600"/>
              </a:spcAft>
            </a:pPr>
            <a:r>
              <a:rPr sz="3200" b="1">
                <a:solidFill>
                  <a:srgbClr val="144A4B"/>
                </a:solidFill>
                <a:latin typeface="微软雅黑"/>
                <a:rFonts ea="微软雅黑" latin="微软雅黑"/>
              </a:rPr>
              <a:t>认识你的表：胜利 VC890D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6400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100" b="0">
                <a:solidFill>
                  <a:srgbClr val="2B2B2B"/>
                </a:solidFill>
                <a:latin typeface="微软雅黑"/>
                <a:rFonts ea="微软雅黑" latin="微软雅黑"/>
              </a:rPr>
              <a:t>表笔插孔：黑表笔 → COM，红表笔 → VΩ（本关只用这两个孔）</a:t>
            </a:r>
          </a:p>
          <a:p>
            <a:pPr algn="l">
              <a:spcAft>
                <a:spcPts val="1200"/>
              </a:spcAft>
            </a:pPr>
            <a:r>
              <a:rPr sz="2100" b="0">
                <a:solidFill>
                  <a:srgbClr val="2B2B2B"/>
                </a:solidFill>
                <a:latin typeface="微软雅黑"/>
                <a:rFonts ea="微软雅黑" latin="微软雅黑"/>
              </a:rPr>
              <a:t>旋钮：拨到直流电压 20V 档（表上 V⎓ 区域）</a:t>
            </a:r>
          </a:p>
          <a:p>
            <a:pPr algn="l">
              <a:spcAft>
                <a:spcPts val="1200"/>
              </a:spcAft>
            </a:pPr>
            <a:r>
              <a:rPr sz="2100" b="0">
                <a:solidFill>
                  <a:srgbClr val="2B2B2B"/>
                </a:solidFill>
                <a:latin typeface="微软雅黑"/>
                <a:rFonts ea="微软雅黑" latin="微软雅黑"/>
              </a:rPr>
              <a:t>直流量程：200mV / 2V / 20V / 200V / 1000V —— 纽扣电池用 20V 档</a:t>
            </a:r>
          </a:p>
          <a:p>
            <a:pPr algn="l">
              <a:spcAft>
                <a:spcPts val="1200"/>
              </a:spcAft>
            </a:pPr>
            <a:r>
              <a:rPr sz="2100" b="0">
                <a:solidFill>
                  <a:srgbClr val="2B2B2B"/>
                </a:solidFill>
                <a:latin typeface="微软雅黑"/>
                <a:rFonts ea="微软雅黑" latin="微软雅黑"/>
              </a:rPr>
              <a:t>配件：鳄鱼夹表笔一对，夹住测点后双手解放，长时间盯读数用</a:t>
            </a:r>
          </a:p>
        </p:txBody>
      </p:sp>
      <p:pic>
        <p:nvPicPr>
          <p:cNvPr id="5" name="Picture 4" descr="workbench-multimet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463040"/>
            <a:ext cx="3657600" cy="487203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8064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5A5A"/>
                </a:solidFill>
                <a:latin typeface="微软雅黑"/>
                <a:rFonts ea="微软雅黑" latin="微软雅黑"/>
              </a:rPr>
              <a:t>图为你的 VC890D 实拍：红表笔已插 VΩ，黑表笔已插 COM。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7000"/>
          </a:xfrm>
          <a:prstGeom prst="rect">
            <a:avLst/>
          </a:prstGeom>
          <a:solidFill>
            <a:srgbClr val="B87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600"/>
              </a:spcAft>
            </a:pPr>
            <a:r>
              <a:rPr sz="3200" b="1">
                <a:solidFill>
                  <a:srgbClr val="144A4B"/>
                </a:solidFill>
                <a:latin typeface="微软雅黑"/>
                <a:rFonts ea="微软雅黑" latin="微软雅黑"/>
              </a:rPr>
              <a:t>动手步骤（5 步）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100" b="0">
                <a:solidFill>
                  <a:srgbClr val="2B2B2B"/>
                </a:solidFill>
                <a:latin typeface="微软雅黑"/>
                <a:rFonts ea="微软雅黑" latin="微软雅黑"/>
              </a:rPr>
              <a:t>①  断电：拔掉主板 24 针与 4 针供电</a:t>
            </a:r>
          </a:p>
          <a:p>
            <a:pPr algn="l">
              <a:spcAft>
                <a:spcPts val="1200"/>
              </a:spcAft>
            </a:pPr>
            <a:r>
              <a:rPr sz="2100" b="0">
                <a:solidFill>
                  <a:srgbClr val="2B2B2B"/>
                </a:solidFill>
                <a:latin typeface="微软雅黑"/>
                <a:rFonts ea="微软雅黑" latin="微软雅黑"/>
              </a:rPr>
              <a:t>②  插表笔：黑表笔插 COM 孔，红表笔插 VΩ 孔</a:t>
            </a:r>
          </a:p>
          <a:p>
            <a:pPr algn="l">
              <a:spcAft>
                <a:spcPts val="1200"/>
              </a:spcAft>
            </a:pPr>
            <a:r>
              <a:rPr sz="2100" b="0">
                <a:solidFill>
                  <a:srgbClr val="2B2B2B"/>
                </a:solidFill>
                <a:latin typeface="微软雅黑"/>
                <a:rFonts ea="微软雅黑" latin="微软雅黑"/>
              </a:rPr>
              <a:t>③  拨档位：旋钮拨到直流电压 20V 档</a:t>
            </a:r>
          </a:p>
          <a:p>
            <a:pPr algn="l">
              <a:spcAft>
                <a:spcPts val="1200"/>
              </a:spcAft>
            </a:pPr>
            <a:r>
              <a:rPr sz="2100" b="0">
                <a:solidFill>
                  <a:srgbClr val="2B2B2B"/>
                </a:solidFill>
                <a:latin typeface="微软雅黑"/>
                <a:rFonts ea="微软雅黑" latin="微软雅黑"/>
              </a:rPr>
              <a:t>④  接测点：黑表笔接后置接口金属外壳，红表笔轻压电池顶部正极</a:t>
            </a:r>
          </a:p>
          <a:p>
            <a:pPr algn="l">
              <a:spcAft>
                <a:spcPts val="1200"/>
              </a:spcAft>
            </a:pPr>
            <a:r>
              <a:rPr sz="2100" b="0">
                <a:solidFill>
                  <a:srgbClr val="2B2B2B"/>
                </a:solidFill>
                <a:latin typeface="微软雅黑"/>
                <a:rFonts ea="微软雅黑" latin="微软雅黑"/>
              </a:rPr>
              <a:t>⑤  读数：等读数稳定后记下数值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064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5A5A"/>
                </a:solidFill>
                <a:latin typeface="微软雅黑"/>
                <a:rFonts ea="微软雅黑" latin="微软雅黑"/>
              </a:rPr>
              <a:t>双手占满时不用拍照——语音报数就行。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7000"/>
          </a:xfrm>
          <a:prstGeom prst="rect">
            <a:avLst/>
          </a:prstGeom>
          <a:solidFill>
            <a:srgbClr val="B87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600"/>
              </a:spcAft>
            </a:pPr>
            <a:r>
              <a:rPr sz="3200" b="1">
                <a:solidFill>
                  <a:srgbClr val="144A4B"/>
                </a:solidFill>
                <a:latin typeface="微软雅黑"/>
                <a:rFonts ea="微软雅黑" latin="微软雅黑"/>
              </a:rPr>
              <a:t>动手前 · 测量安全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100" b="0">
                <a:solidFill>
                  <a:srgbClr val="2B2B2B"/>
                </a:solidFill>
                <a:latin typeface="微软雅黑"/>
                <a:rFonts ea="微软雅黑" latin="微软雅黑"/>
              </a:rPr>
              <a:t>断电测量：本关全程断电操作</a:t>
            </a:r>
          </a:p>
          <a:p>
            <a:pPr algn="l">
              <a:spcAft>
                <a:spcPts val="1200"/>
              </a:spcAft>
            </a:pPr>
            <a:r>
              <a:rPr sz="2100" b="0">
                <a:solidFill>
                  <a:srgbClr val="2B2B2B"/>
                </a:solidFill>
                <a:latin typeface="微软雅黑"/>
                <a:rFonts ea="微软雅黑" latin="微软雅黑"/>
              </a:rPr>
              <a:t>带电测量：只做规范的低风险带电测量，表笔不打滑、不短接</a:t>
            </a:r>
          </a:p>
          <a:p>
            <a:pPr algn="l">
              <a:spcAft>
                <a:spcPts val="1200"/>
              </a:spcAft>
            </a:pPr>
            <a:r>
              <a:rPr sz="2100" b="0">
                <a:solidFill>
                  <a:srgbClr val="2B2B2B"/>
                </a:solidFill>
                <a:latin typeface="微软雅黑"/>
                <a:rFonts ea="微软雅黑" latin="微软雅黑"/>
              </a:rPr>
              <a:t>禁止带电插拔：不断电不拔插任何接口与跳线</a:t>
            </a:r>
          </a:p>
          <a:p>
            <a:pPr algn="l">
              <a:spcAft>
                <a:spcPts val="1200"/>
              </a:spcAft>
            </a:pPr>
            <a:r>
              <a:rPr sz="2100" b="0">
                <a:solidFill>
                  <a:srgbClr val="2B2B2B"/>
                </a:solidFill>
                <a:latin typeface="微软雅黑"/>
                <a:rFonts ea="微软雅黑" latin="微软雅黑"/>
              </a:rPr>
              <a:t>电源与电容：大电容可能存电，手不碰电源初级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064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5A5A"/>
                </a:solidFill>
                <a:latin typeface="微软雅黑"/>
                <a:rFonts ea="微软雅黑" latin="微软雅黑"/>
              </a:rPr>
              <a:t>阶段边界：拆焊芯片、飞线、热风返修等到第 10 关焊接阶段再碰。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7000"/>
          </a:xfrm>
          <a:prstGeom prst="rect">
            <a:avLst/>
          </a:prstGeom>
          <a:solidFill>
            <a:srgbClr val="B87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600"/>
              </a:spcAft>
            </a:pPr>
            <a:r>
              <a:rPr sz="3200" b="1">
                <a:solidFill>
                  <a:srgbClr val="144A4B"/>
                </a:solidFill>
                <a:latin typeface="微软雅黑"/>
                <a:rFonts ea="微软雅黑" latin="微软雅黑"/>
              </a:rPr>
              <a:t>验收标准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100" b="0">
                <a:solidFill>
                  <a:srgbClr val="2B2B2B"/>
                </a:solidFill>
                <a:latin typeface="微软雅黑"/>
                <a:rFonts ea="微软雅黑" latin="微软雅黑"/>
              </a:rPr>
              <a:t>语音报出：红、黑表笔分别接在哪里，以及屏幕读数</a:t>
            </a:r>
          </a:p>
          <a:p>
            <a:pPr algn="l">
              <a:spcAft>
                <a:spcPts val="1200"/>
              </a:spcAft>
            </a:pPr>
            <a:r>
              <a:rPr sz="2100" b="0">
                <a:solidFill>
                  <a:srgbClr val="2B2B2B"/>
                </a:solidFill>
                <a:latin typeface="微软雅黑"/>
                <a:rFonts ea="微软雅黑" latin="微软雅黑"/>
              </a:rPr>
              <a:t>读数在 3.0～3.3 伏，且操作正确 → 过关</a:t>
            </a:r>
          </a:p>
          <a:p>
            <a:pPr algn="l">
              <a:spcAft>
                <a:spcPts val="1200"/>
              </a:spcAft>
            </a:pPr>
            <a:r>
              <a:rPr sz="2100" b="0">
                <a:solidFill>
                  <a:srgbClr val="2B2B2B"/>
                </a:solidFill>
                <a:latin typeface="微软雅黑"/>
                <a:rFonts ea="微软雅黑" latin="微软雅黑"/>
              </a:rPr>
              <a:t>不要求边测边拍照；鳄鱼夹表笔可解放双手</a:t>
            </a:r>
          </a:p>
          <a:p>
            <a:pPr algn="l">
              <a:spcAft>
                <a:spcPts val="1200"/>
              </a:spcAft>
            </a:pPr>
            <a:r>
              <a:rPr sz="2100" b="0">
                <a:solidFill>
                  <a:srgbClr val="2B2B2B"/>
                </a:solidFill>
                <a:latin typeface="微软雅黑"/>
                <a:rFonts ea="微软雅黑" latin="微软雅黑"/>
              </a:rPr>
              <a:t>验收通过后，教练记入学习台账，并按教材章节判定覆盖进度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7000"/>
          </a:xfrm>
          <a:prstGeom prst="rect">
            <a:avLst/>
          </a:prstGeom>
          <a:solidFill>
            <a:srgbClr val="B87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600"/>
              </a:spcAft>
            </a:pPr>
            <a:r>
              <a:rPr sz="3200" b="1">
                <a:solidFill>
                  <a:srgbClr val="144A4B"/>
                </a:solidFill>
                <a:latin typeface="微软雅黑"/>
                <a:rFonts ea="微软雅黑" latin="微软雅黑"/>
              </a:rPr>
              <a:t>复盘要点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100" b="0">
                <a:solidFill>
                  <a:srgbClr val="2B2B2B"/>
                </a:solidFill>
                <a:latin typeface="微软雅黑"/>
                <a:rFonts ea="微软雅黑" latin="微软雅黑"/>
              </a:rPr>
              <a:t>直流电压档：为什么选 20V 而不是 2V / 200V？</a:t>
            </a:r>
          </a:p>
          <a:p>
            <a:pPr algn="l">
              <a:spcAft>
                <a:spcPts val="1200"/>
              </a:spcAft>
            </a:pPr>
            <a:r>
              <a:rPr sz="2100" b="0">
                <a:solidFill>
                  <a:srgbClr val="2B2B2B"/>
                </a:solidFill>
                <a:latin typeface="微软雅黑"/>
                <a:rFonts ea="微软雅黑" latin="微软雅黑"/>
              </a:rPr>
              <a:t>参考地：为什么黑表笔接金属外壳？</a:t>
            </a:r>
          </a:p>
          <a:p>
            <a:pPr algn="l">
              <a:spcAft>
                <a:spcPts val="1200"/>
              </a:spcAft>
            </a:pPr>
            <a:r>
              <a:rPr sz="2100" b="0">
                <a:solidFill>
                  <a:srgbClr val="2B2B2B"/>
                </a:solidFill>
                <a:latin typeface="微软雅黑"/>
                <a:rFonts ea="微软雅黑" latin="微软雅黑"/>
              </a:rPr>
              <a:t>极性与量程：屏幕出现负号（-3.02V）说明什么？</a:t>
            </a:r>
          </a:p>
          <a:p>
            <a:pPr algn="l">
              <a:spcAft>
                <a:spcPts val="1200"/>
              </a:spcAft>
            </a:pPr>
            <a:r>
              <a:rPr sz="2100" b="0">
                <a:solidFill>
                  <a:srgbClr val="2B2B2B"/>
                </a:solidFill>
                <a:latin typeface="微软雅黑"/>
                <a:rFonts ea="微软雅黑" latin="微软雅黑"/>
              </a:rPr>
              <a:t>→ 负号只说明表笔极性接反，不代表电池产生负电压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064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5A5A"/>
                </a:solidFill>
                <a:latin typeface="微软雅黑"/>
                <a:rFonts ea="微软雅黑" latin="微软雅黑"/>
              </a:rPr>
              <a:t>复盘后教练出 3～5 道题，考理解不考背诵。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4A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05156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微软雅黑"/>
                <a:rFonts ea="微软雅黑" latin="微软雅黑"/>
              </a:rPr>
              <a:t>测完 → 语音报数 → 过关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91840"/>
            <a:ext cx="10515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Aft>
                <a:spcPts val="600"/>
              </a:spcAft>
            </a:pPr>
            <a:r>
              <a:rPr sz="2000" b="0">
                <a:solidFill>
                  <a:srgbClr val="E8DDC8"/>
                </a:solidFill>
                <a:latin typeface="微软雅黑"/>
                <a:rFonts ea="微软雅黑" latin="微软雅黑"/>
              </a:rPr>
              <a:t>下一关：第 2 关 · 认识并测量电阻电容
提前备品：鳄鱼夹表笔（几块钱一对）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